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a01eab7604b4ca6" /><Relationship Type="http://schemas.openxmlformats.org/officeDocument/2006/relationships/extended-properties" Target="/docProps/app.xml" Id="R78669d8b831943c4" /><Relationship Type="http://schemas.openxmlformats.org/officeDocument/2006/relationships/officeDocument" Target="/ppt/presentation.xml" Id="R7db5f91154114bd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c380f37ea64627"/>
  </p:sldMasterIdLst>
  <p:notesMasterIdLst>
    <p:notesMasterId xmlns:r="http://schemas.openxmlformats.org/officeDocument/2006/relationships" r:id="R6595b765208747aa"/>
  </p:notesMasterIdLst>
  <p:sldIdLst>
    <p:sldId xmlns:r="http://schemas.openxmlformats.org/officeDocument/2006/relationships" id="256" r:id="R05c642654b3140da"/>
    <p:sldId xmlns:r="http://schemas.openxmlformats.org/officeDocument/2006/relationships" id="257" r:id="R075d66ca50b741c2"/>
    <p:sldId xmlns:r="http://schemas.openxmlformats.org/officeDocument/2006/relationships" id="258" r:id="Rf9dcea7d0e5e4a80"/>
    <p:sldId xmlns:r="http://schemas.openxmlformats.org/officeDocument/2006/relationships" id="259" r:id="Rfd3d83eaa6e84252"/>
    <p:sldId xmlns:r="http://schemas.openxmlformats.org/officeDocument/2006/relationships" id="260" r:id="Rab7e3833a17249d2"/>
    <p:sldId xmlns:r="http://schemas.openxmlformats.org/officeDocument/2006/relationships" id="261" r:id="R918caddfada54d9c"/>
    <p:sldId xmlns:r="http://schemas.openxmlformats.org/officeDocument/2006/relationships" id="262" r:id="R94a12884083e499d"/>
    <p:sldId xmlns:r="http://schemas.openxmlformats.org/officeDocument/2006/relationships" id="263" r:id="R761cfc58732740fe"/>
    <p:sldId xmlns:r="http://schemas.openxmlformats.org/officeDocument/2006/relationships" id="264" r:id="R2154ef3fea8344dd"/>
    <p:sldId xmlns:r="http://schemas.openxmlformats.org/officeDocument/2006/relationships" id="265" r:id="R2697524f9ea5463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9fa6b43c40d4085" /><Relationship Type="http://schemas.openxmlformats.org/officeDocument/2006/relationships/slideMaster" Target="/ppt/slideMasters/slideMaster1.xml" Id="R06c380f37ea64627" /><Relationship Type="http://schemas.openxmlformats.org/officeDocument/2006/relationships/notesMaster" Target="/ppt/notesMasters/notesMaster1.xml" Id="R6595b765208747aa" /><Relationship Type="http://schemas.openxmlformats.org/officeDocument/2006/relationships/presProps" Target="/ppt/presProps.xml" Id="R327ee7182a034405" /><Relationship Type="http://schemas.openxmlformats.org/officeDocument/2006/relationships/tableStyles" Target="/ppt/tableStyles.xml" Id="R8d3e045d11c54805" /><Relationship Type="http://schemas.openxmlformats.org/officeDocument/2006/relationships/slide" Target="/ppt/slides/slide1.xml" Id="R05c642654b3140da" /><Relationship Type="http://schemas.openxmlformats.org/officeDocument/2006/relationships/slide" Target="/ppt/slides/slide2.xml" Id="R075d66ca50b741c2" /><Relationship Type="http://schemas.openxmlformats.org/officeDocument/2006/relationships/slide" Target="/ppt/slides/slide3.xml" Id="Rf9dcea7d0e5e4a80" /><Relationship Type="http://schemas.openxmlformats.org/officeDocument/2006/relationships/slide" Target="/ppt/slides/slide4.xml" Id="Rfd3d83eaa6e84252" /><Relationship Type="http://schemas.openxmlformats.org/officeDocument/2006/relationships/slide" Target="/ppt/slides/slide5.xml" Id="Rab7e3833a17249d2" /><Relationship Type="http://schemas.openxmlformats.org/officeDocument/2006/relationships/slide" Target="/ppt/slides/slide6.xml" Id="R918caddfada54d9c" /><Relationship Type="http://schemas.openxmlformats.org/officeDocument/2006/relationships/slide" Target="/ppt/slides/slide7.xml" Id="R94a12884083e499d" /><Relationship Type="http://schemas.openxmlformats.org/officeDocument/2006/relationships/slide" Target="/ppt/slides/slide8.xml" Id="R761cfc58732740fe" /><Relationship Type="http://schemas.openxmlformats.org/officeDocument/2006/relationships/slide" Target="/ppt/slides/slide9.xml" Id="R2154ef3fea8344dd" /><Relationship Type="http://schemas.openxmlformats.org/officeDocument/2006/relationships/slide" Target="/ppt/slides/slide10.xml" Id="R2697524f9ea546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1e15779239a4b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9af4357f5ad4fae" /><Relationship Type="http://schemas.openxmlformats.org/officeDocument/2006/relationships/notesMaster" Target="/ppt/notesMasters/notesMaster1.xml" Id="R168c9858fcad4a4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6fcd85a17734195" /><Relationship Type="http://schemas.openxmlformats.org/officeDocument/2006/relationships/notesMaster" Target="/ppt/notesMasters/notesMaster1.xml" Id="R0d668cc12e304c9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055431924224460" /><Relationship Type="http://schemas.openxmlformats.org/officeDocument/2006/relationships/notesMaster" Target="/ppt/notesMasters/notesMaster1.xml" Id="R128d8b74adc8453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ace5568a8034e8b" /><Relationship Type="http://schemas.openxmlformats.org/officeDocument/2006/relationships/notesMaster" Target="/ppt/notesMasters/notesMaster1.xml" Id="R7671a6a9ddf0436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013139d47984fe4" /><Relationship Type="http://schemas.openxmlformats.org/officeDocument/2006/relationships/notesMaster" Target="/ppt/notesMasters/notesMaster1.xml" Id="R13c27c3e4c33406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d653279fffc4f8b" /><Relationship Type="http://schemas.openxmlformats.org/officeDocument/2006/relationships/notesMaster" Target="/ppt/notesMasters/notesMaster1.xml" Id="R3dfd80e6e0ac4a8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d8ae3e1acfa4559" /><Relationship Type="http://schemas.openxmlformats.org/officeDocument/2006/relationships/notesMaster" Target="/ppt/notesMasters/notesMaster1.xml" Id="R2f0805e641494c4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10de1d661814180" /><Relationship Type="http://schemas.openxmlformats.org/officeDocument/2006/relationships/notesMaster" Target="/ppt/notesMasters/notesMaster1.xml" Id="Rae935ce5d9b64f7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d88cdd8447a4a95" /><Relationship Type="http://schemas.openxmlformats.org/officeDocument/2006/relationships/notesMaster" Target="/ppt/notesMasters/notesMaster1.xml" Id="Rc1918c48782b496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f9b96a67e6e46cd" /><Relationship Type="http://schemas.openxmlformats.org/officeDocument/2006/relationships/notesMaster" Target="/ppt/notesMasters/notesMaster1.xml" Id="Re456c26682ca49f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插画由生成式图像工具按本项目场景生成，不对应真实人物。作品内容依据 submission/作品报告_盲审版.md。</a:t>
            </a:r>
          </a:p>
          <a:p xmlns:a="http://schemas.openxmlformats.org/drawingml/2006/main">
            <a:r>
              <a:t>讲解提示：一句话说清作品定位，保持封面信息简洁。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来源：submission/作品报告_盲审版.md 第二、三部分。</a:t>
            </a:r>
          </a:p>
          <a:p xmlns:a="http://schemas.openxmlformats.org/drawingml/2006/main">
            <a:r>
              <a:t>讲解提示：用真实但不涉及个人的日常场景引出问题，不宣称替代临床服务。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来源：submission/作品报告_盲审版.md 第四部分。</a:t>
            </a:r>
          </a:p>
          <a:p xmlns:a="http://schemas.openxmlformats.org/drawingml/2006/main">
            <a:r>
              <a:t>讲解提示：现场打开首页后，用一句问题演示这一流程。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来源：data/health_knowledge.json 中的跌倒预防条目与 submission/项目演示脚本.md。</a:t>
            </a:r>
          </a:p>
          <a:p xmlns:a="http://schemas.openxmlformats.org/drawingml/2006/main">
            <a:r>
              <a:t>讲解提示：现场演示首页，点开国家卫生健康委员会来源链接。不要把演示内容表述为诊断建议。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来源：health_core/safety.py 与 tests/test_safety.py。</a:t>
            </a:r>
          </a:p>
          <a:p xmlns:a="http://schemas.openxmlformats.org/drawingml/2006/main">
            <a:r>
              <a:t>讲解提示：说明规则在模型输出前后均执行，系统不替代医生或药师做用药决定。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来源：health_core/safety.py 与 submission/作品报告_盲审版.md 第六部分。</a:t>
            </a:r>
          </a:p>
          <a:p xmlns:a="http://schemas.openxmlformats.org/drawingml/2006/main">
            <a:r>
              <a:t>讲解提示：现场输入紧急示例。强调这是安全分流，不是急救诊断工具。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插画由生成式图像工具按本项目场景生成，不对应真实人物。功能来源：health_core/visit_pack.py 与 tests/test_visit_pack.py。</a:t>
            </a:r>
          </a:p>
          <a:p xmlns:a="http://schemas.openxmlformats.org/drawingml/2006/main">
            <a:r>
              <a:t>讲解提示：现场填写“开始时间”和“症状变化”，展示生成结果后刷新页面说明不留存。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来源：submission/作品报告_盲审版.md 第五、六、七部分；health_core/ 目录。</a:t>
            </a:r>
          </a:p>
          <a:p xmlns:a="http://schemas.openxmlformats.org/drawingml/2006/main">
            <a:r>
              <a:t>讲解提示：不要堆砌术语，说明每个模块的职责即可。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来源：artifacts/evaluation_report.json（demo 模式，30 条用例，五项指标均为 100%）；当前 pytest -q 结果为 45 passed。</a:t>
            </a:r>
          </a:p>
          <a:p xmlns:a="http://schemas.openxmlformats.org/drawingml/2006/main">
            <a:r>
              <a:t>讲解提示：主动说明评测是固定虚构用例，不能等同于临床准确率。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来源：submission/作品报告_盲审版.md 第十部分。</a:t>
            </a:r>
          </a:p>
          <a:p xmlns:a="http://schemas.openxmlformats.org/drawingml/2006/main">
            <a:r>
              <a:t>讲解提示：用边界收束，不夸大医疗能力；邀请评委查看首页与 /evaluation。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f01bd328f64d3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a4cf12067e54e25" /><Relationship Type="http://schemas.openxmlformats.org/officeDocument/2006/relationships/slideLayout" Target="/ppt/slideLayouts/slideLayout1.xml" Id="R0b13b62dd686462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b13b62dd686462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a441dff2654230" /><Relationship Type="http://schemas.openxmlformats.org/officeDocument/2006/relationships/image" Target="/ppt/media/image.png" Id="R287d360923db4d7c" /><Relationship Type="http://schemas.openxmlformats.org/officeDocument/2006/relationships/notesSlide" Target="/ppt/notesSlides/notesSlide1.xml" Id="R8a08fc3db1114eb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c546236495405b" /><Relationship Type="http://schemas.openxmlformats.org/officeDocument/2006/relationships/notesSlide" Target="/ppt/notesSlides/notesSlide2.xml" Id="R2b4c6455b8434b8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aedb841fb04bce" /><Relationship Type="http://schemas.openxmlformats.org/officeDocument/2006/relationships/notesSlide" Target="/ppt/notesSlides/notesSlide3.xml" Id="R0579b773c6bc49c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b19dd9c6ea4ca4" /><Relationship Type="http://schemas.openxmlformats.org/officeDocument/2006/relationships/notesSlide" Target="/ppt/notesSlides/notesSlide4.xml" Id="R082a3ef435de430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40ef8fe8314117" /><Relationship Type="http://schemas.openxmlformats.org/officeDocument/2006/relationships/notesSlide" Target="/ppt/notesSlides/notesSlide5.xml" Id="Ra8b5b62ef90a4c9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4ccc1cdb4a46f7" /><Relationship Type="http://schemas.openxmlformats.org/officeDocument/2006/relationships/notesSlide" Target="/ppt/notesSlides/notesSlide6.xml" Id="Rf88cb3a8f21746a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90cd041d004a94" /><Relationship Type="http://schemas.openxmlformats.org/officeDocument/2006/relationships/image" Target="/ppt/media/image2.png" Id="R1017d44201374012" /><Relationship Type="http://schemas.openxmlformats.org/officeDocument/2006/relationships/notesSlide" Target="/ppt/notesSlides/notesSlide7.xml" Id="Racfed368c78b48e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37dfb1ac1843bb" /><Relationship Type="http://schemas.openxmlformats.org/officeDocument/2006/relationships/notesSlide" Target="/ppt/notesSlides/notesSlide8.xml" Id="Ra590c7ba6a2f495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ff04cbe6c346c7" /><Relationship Type="http://schemas.openxmlformats.org/officeDocument/2006/relationships/chart" Target="/ppt/slides/charts/chart1.xml" Id="Rf3cc967060c2476f" /><Relationship Type="http://schemas.openxmlformats.org/officeDocument/2006/relationships/notesSlide" Target="/ppt/notesSlides/notesSlide9.xml" Id="R3751b8ed8253467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785564a5bf4870" /><Relationship Type="http://schemas.openxmlformats.org/officeDocument/2006/relationships/notesSlide" Target="/ppt/notesSlides/notesSlide10.xml" Id="Rcf972ad7658f44fd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通过率</c:v>
          </c:tx>
          <c:spPr>
            <a:solidFill xmlns:a="http://schemas.openxmlformats.org/drawingml/2006/main">
              <a:srgbClr val="177E89"/>
            </a:solidFill>
          </c:spPr>
          <c:cat>
            <c:strRef>
              <c:f>'Chart Data'!$A$2:$A$6</c:f>
              <c:strCache>
                <c:ptCount val="5"/>
                <c:pt idx="0">
                  <c:v>紧急召回</c:v>
                </c:pt>
                <c:pt idx="1">
                  <c:v>用药拦截</c:v>
                </c:pt>
                <c:pt idx="2">
                  <c:v>来源覆盖</c:v>
                </c:pt>
                <c:pt idx="3">
                  <c:v>结构完整</c:v>
                </c:pt>
                <c:pt idx="4">
                  <c:v>异常降级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7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7d360923db4d7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B3FC86-F5E8-4A20-8DB0-1E6FCFA91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57225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CAFC7D-BCE0-4659-BC86-EA1A23BB7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89"/>
          </a:solidFill>
          <a:ln xmlns:a="http://schemas.openxmlformats.org/drawingml/2006/main" w="0">
            <a:solidFill>
              <a:srgbClr val="177E8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ABC1DA-5502-42F3-A8C7-18AA59809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390650"/>
            <a:ext cx="4667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59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13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13B5C"/>
                </a:solidFill>
                <a:latin typeface="Microsoft YaHei"/>
                <a:ea typeface="Microsoft YaHei"/>
                <a:cs typeface="Microsoft YaHei"/>
              </a:rPr>
              <a:t>银龄健康通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995F09-C9F0-44D6-8395-76F96E9DB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90750"/>
            <a:ext cx="4857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4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344D"/>
                </a:solidFill>
                <a:latin typeface="Microsoft YaHei"/>
                <a:ea typeface="Microsoft YaHei"/>
                <a:cs typeface="Microsoft YaHei"/>
              </a:rPr>
              <a:t>面向老年人的可信健康科普</a:t>
            </a:r>
          </a:p>
          <a:p xmlns:a="http://schemas.openxmlformats.org/drawingml/2006/main">
            <a:pPr algn="l">
              <a:defRPr sz="2250" b="1">
                <a:solidFill>
                  <a:srgbClr val="1834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344D"/>
                </a:solidFill>
                <a:latin typeface="Microsoft YaHei"/>
                <a:ea typeface="Microsoft YaHei"/>
                <a:cs typeface="Microsoft YaHei"/>
              </a:rPr>
              <a:t>与就医导航助手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B62031-5F85-449D-A565-E0617C94F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004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7E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7E89"/>
                </a:solidFill>
                <a:latin typeface="Microsoft YaHei"/>
                <a:ea typeface="Microsoft YaHei"/>
                <a:cs typeface="Microsoft YaHei"/>
              </a:rPr>
              <a:t>适老交互  /  权威溯源  /  安全路由  /  行动闭环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C465BA-4B7D-42C5-924E-46712C909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71950"/>
            <a:ext cx="400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49B3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159E71-A316-44A2-8ECF-E151090DF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361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rPr>
              <a:t>安徽省 AI 大模型创新应用竞赛</a:t>
            </a:r>
          </a:p>
          <a:p xmlns:a="http://schemas.openxmlformats.org/drawingml/2006/main">
            <a:pPr algn="l">
              <a:defRPr sz="1350" b="0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rPr>
              <a:t>作品赛盲审版</a:t>
            </a:r>
          </a:p>
        </p:txBody>
      </p:sp>
    </p:spTree>
    <p:extLst>
      <p:ext uri="{BB962C8B-B14F-4D97-AF65-F5344CB8AC3E}">
        <p14:creationId xmlns:p14="http://schemas.microsoft.com/office/powerpoint/2010/main" val="9018618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47A967-ABD0-4F95-A445-A84C935DA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8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106650-BCF1-43DE-AC3F-44A76A208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7E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7E8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991596-26E6-4C8C-9AA2-E4628CC2A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3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3B5C"/>
                </a:solidFill>
                <a:latin typeface="Microsoft YaHei"/>
                <a:ea typeface="Microsoft YaHei"/>
                <a:cs typeface="Microsoft YaHei"/>
              </a:rPr>
              <a:t>老人需要的是下一步，而不是一段聊天回答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1B4911-E4B9-48FA-8ED0-A3EAF1A17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716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rPr>
              <a:t>健康教育信息常常专业、分散，问诊准备又容易临时遗漏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094C15-BAD3-4C3E-8C74-7475AFD82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E3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B1A0E4-2462-4655-8EAF-E0F44C95D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rPr>
              <a:t>银龄健康通 2.0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124CFC-093A-4B32-9B45-BDFDA8163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985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rPr>
              <a:t>2 / 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CF710E-94E5-4AAB-8D6D-79208851F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764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7E89"/>
          </a:solidFill>
          <a:ln xmlns:a="http://schemas.openxmlformats.org/drawingml/2006/main" w="0">
            <a:solidFill>
              <a:srgbClr val="177E8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790220-7933-43FE-98B9-390C8520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39C9B1-C474-4C9C-8666-35E356703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247900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3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3B5C"/>
                </a:solidFill>
                <a:latin typeface="Microsoft YaHei"/>
                <a:ea typeface="Microsoft YaHei"/>
                <a:cs typeface="Microsoft YaHei"/>
              </a:rPr>
              <a:t>看不懂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870B39-B719-47E9-A092-01AEA61BF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0985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rPr>
              <a:t>公开健康信息完整但术语多，老人难以抓住重点。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6E9115-181F-4649-A147-F14C30BCC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66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9B33"/>
          </a:solidFill>
          <a:ln xmlns:a="http://schemas.openxmlformats.org/drawingml/2006/main" w="0">
            <a:solidFill>
              <a:srgbClr val="E49B3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B8BBF4-D824-4A00-A83E-5DE201614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3CA598-00D6-449B-A64D-E064D0949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48050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3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3B5C"/>
                </a:solidFill>
                <a:latin typeface="Microsoft YaHei"/>
                <a:ea typeface="Microsoft YaHei"/>
                <a:cs typeface="Microsoft YaHei"/>
              </a:rPr>
              <a:t>说不清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06FBCC-3876-4F48-85FA-5FE212A1E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100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rPr>
              <a:t>症状开始时间、变化和用药情况常在就医前才匆忙回忆。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7D0621-1712-4B06-BE08-6FC756663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767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B3E3E"/>
          </a:solidFill>
          <a:ln xmlns:a="http://schemas.openxmlformats.org/drawingml/2006/main" w="0">
            <a:solidFill>
              <a:srgbClr val="BB3E3E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DEA6C9-53CA-4C12-A096-F09972895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434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F18D6B-803D-4424-AF19-904A3BF10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48200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3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3B5C"/>
                </a:solidFill>
                <a:latin typeface="Microsoft YaHei"/>
                <a:ea typeface="Microsoft YaHei"/>
                <a:cs typeface="Microsoft YaHei"/>
              </a:rPr>
              <a:t>不敢信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E3C8FE-06B3-4437-8DDF-5E5182093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1015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rPr>
              <a:t>通用大模型可能不展示依据，也无法稳定处理停药和急症问题。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81382F-A346-4A77-AEFD-5DF5FF514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28850"/>
            <a:ext cx="409575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64B705-21D2-49CF-88D5-7C0B988DC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5717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3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3B5C"/>
                </a:solidFill>
                <a:latin typeface="Microsoft YaHei"/>
                <a:ea typeface="Microsoft YaHei"/>
                <a:cs typeface="Microsoft YaHei"/>
              </a:rPr>
              <a:t>面向老人的目标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2E7508-8596-4430-BAC8-E72E94B3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181350"/>
            <a:ext cx="25717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7E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7E89"/>
                </a:solidFill>
                <a:latin typeface="Microsoft YaHei"/>
                <a:ea typeface="Microsoft YaHei"/>
                <a:cs typeface="Microsoft YaHei"/>
              </a:rPr>
              <a:t>听得懂</a:t>
            </a:r>
          </a:p>
          <a:p xmlns:a="http://schemas.openxmlformats.org/drawingml/2006/main">
            <a:pPr algn="l">
              <a:defRPr sz="2175" b="1">
                <a:solidFill>
                  <a:srgbClr val="177E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7E89"/>
                </a:solidFill>
                <a:latin typeface="Microsoft YaHei"/>
                <a:ea typeface="Microsoft YaHei"/>
                <a:cs typeface="Microsoft YaHei"/>
              </a:rPr>
              <a:t>知道下一步</a:t>
            </a:r>
          </a:p>
          <a:p xmlns:a="http://schemas.openxmlformats.org/drawingml/2006/main">
            <a:pPr algn="l">
              <a:defRPr sz="2175" b="1">
                <a:solidFill>
                  <a:srgbClr val="177E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7E89"/>
                </a:solidFill>
                <a:latin typeface="Microsoft YaHei"/>
                <a:ea typeface="Microsoft YaHei"/>
                <a:cs typeface="Microsoft YaHei"/>
              </a:rPr>
              <a:t>带得齐资料</a:t>
            </a:r>
          </a:p>
          <a:p xmlns:a="http://schemas.openxmlformats.org/drawingml/2006/main">
            <a:pPr algn="l">
              <a:defRPr sz="2175" b="1">
                <a:solidFill>
                  <a:srgbClr val="177E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7E89"/>
                </a:solidFill>
                <a:latin typeface="Microsoft YaHei"/>
                <a:ea typeface="Microsoft YaHei"/>
                <a:cs typeface="Microsoft YaHei"/>
              </a:rPr>
              <a:t>问得清重点</a:t>
            </a:r>
          </a:p>
          <a:p xmlns:a="http://schemas.openxmlformats.org/drawingml/2006/main">
            <a:pPr algn="l">
              <a:defRPr sz="2175" b="1">
                <a:solidFill>
                  <a:srgbClr val="177E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7E89"/>
                </a:solidFill>
                <a:latin typeface="Microsoft YaHei"/>
                <a:ea typeface="Microsoft YaHei"/>
                <a:cs typeface="Microsoft YaHei"/>
              </a:rPr>
              <a:t>家属能接上</a:t>
            </a:r>
          </a:p>
        </p:txBody>
      </p:sp>
    </p:spTree>
    <p:extLst>
      <p:ext uri="{BB962C8B-B14F-4D97-AF65-F5344CB8AC3E}">
        <p14:creationId xmlns:p14="http://schemas.microsoft.com/office/powerpoint/2010/main" val="4678219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625D916-9EC4-40DB-910F-07193864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8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B5770D-FE61-4C4D-8CAA-7780D54D8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7E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7E8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FF2D21-C745-406A-986D-3D277F129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3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3B5C"/>
                </a:solidFill>
                <a:latin typeface="Microsoft YaHei"/>
                <a:ea typeface="Microsoft YaHei"/>
                <a:cs typeface="Microsoft YaHei"/>
              </a:rPr>
              <a:t>一句话提问，形成可执行的就医准备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749883-87B8-4203-8A5C-8FDDB70E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716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rPr>
              <a:t>技术步骤在后台完成，老人端只保留一个主要输入框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72AE84-CE16-4CC0-8172-0BBC46111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E3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650F5A-6B88-4C33-B4DB-9F971EF0D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rPr>
              <a:t>银龄健康通 2.0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450272-1124-46AB-A7AA-E70061B26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985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rPr>
              <a:t>3 / 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E3CE01-6854-41CE-9440-AE03EB42B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5621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7E3E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AD0BB2-C242-4FF2-AC9E-CEE26F731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80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09F822-154A-4B9A-9C23-DA44E071E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3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3B5C"/>
                </a:solidFill>
                <a:latin typeface="Microsoft YaHei"/>
                <a:ea typeface="Microsoft YaHei"/>
                <a:cs typeface="Microsoft YaHei"/>
              </a:rPr>
              <a:t>老人提问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A4B0CE-E323-4C05-986A-105805162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4810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rPr>
              <a:t>文字或语音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082C33-E484-4E24-8A9A-C37849DC3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33337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542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7E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7E89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97FD9D-9152-467C-A199-324598718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857500"/>
            <a:ext cx="15621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5F8"/>
          </a:solidFill>
          <a:ln xmlns:a="http://schemas.openxmlformats.org/drawingml/2006/main" w="9525">
            <a:solidFill>
              <a:srgbClr val="D7E3E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C18339-5FE6-4D94-8BB5-792E4744D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0480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7E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7E8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45FEC9-FF55-4F68-84FD-4C48D560E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42900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3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3B5C"/>
                </a:solidFill>
                <a:latin typeface="Microsoft YaHei"/>
                <a:ea typeface="Microsoft YaHei"/>
                <a:cs typeface="Microsoft YaHei"/>
              </a:rPr>
              <a:t>风险判断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D5CAB8-888D-405F-8715-97EDB6255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4810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rPr>
              <a:t>红黄绿规则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D3479D-054A-451D-9F2E-7AD82C99F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3337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542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7E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7E89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8F7E6B-B2CE-47AA-802C-A1D4EBD14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57500"/>
            <a:ext cx="15621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7E3E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CF082C-A55C-4744-BE7E-2F05E20C3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480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F7AF0C-8723-42CE-BCF4-BD5E334C3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2900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3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3B5C"/>
                </a:solidFill>
                <a:latin typeface="Microsoft YaHei"/>
                <a:ea typeface="Microsoft YaHei"/>
                <a:cs typeface="Microsoft YaHei"/>
              </a:rPr>
              <a:t>权威检索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E2110B-51D5-47E8-9372-11879837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84810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rPr>
              <a:t>卫健委白名单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0BD153-ACA8-49CB-BDFD-EF758D426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3337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542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7E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7E89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DE11FE-5500-4AB6-A16D-5C6854D69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57500"/>
            <a:ext cx="15621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7E3E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D2CC88-7B56-4F1A-9B86-2CCC9B730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480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774737-9D0F-4D8B-AFE0-C5BFC508D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2900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3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3B5C"/>
                </a:solidFill>
                <a:latin typeface="Microsoft YaHei"/>
                <a:ea typeface="Microsoft YaHei"/>
                <a:cs typeface="Microsoft YaHei"/>
              </a:rPr>
              <a:t>通俗解释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E7A99D-C6B7-47C2-8C0A-D61C41C72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4810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rPr>
              <a:t>结构化回答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8B2C40-3325-493C-BBFC-C4DF039AF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3337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542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7E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7E89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7D7540-112D-4527-ADB9-B2E2102AD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57500"/>
            <a:ext cx="15621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7E3EA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4655E9-71BC-451E-8C48-7D8EDB9AE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480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CDE684-21B7-4ED6-AD39-F3613260E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2900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3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3B5C"/>
                </a:solidFill>
                <a:latin typeface="Microsoft YaHei"/>
                <a:ea typeface="Microsoft YaHei"/>
                <a:cs typeface="Microsoft YaHei"/>
              </a:rPr>
              <a:t>就医准备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0FB0FB-A213-428C-BFA7-631D34812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84810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rPr>
              <a:t>清单与问题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7E1688-15EB-40F1-9573-4F424FD12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3337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542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7E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7E89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1E5171-B2EF-4A3A-B272-2EFC7F226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857500"/>
            <a:ext cx="15621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7E3EA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F1C9136-8D00-43A6-9EC0-04958F2FA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0480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F5A5E35-DA44-4BF4-90CF-EAF8FCD44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42900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3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3B5C"/>
                </a:solidFill>
                <a:latin typeface="Microsoft YaHei"/>
                <a:ea typeface="Microsoft YaHei"/>
                <a:cs typeface="Microsoft YaHei"/>
              </a:rPr>
              <a:t>家庭协同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E42B33B-9EA9-41A6-9F1C-2CC828D6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84810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rPr>
              <a:t>可复制提醒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8E0B737-D2E1-4462-82B9-2DAD4AF9C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095875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834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8344D"/>
                </a:solidFill>
                <a:latin typeface="Microsoft YaHei"/>
                <a:ea typeface="Microsoft YaHei"/>
                <a:cs typeface="Microsoft YaHei"/>
              </a:rPr>
              <a:t>结果不是医疗结论，而是让老人带着更完整的信息进入下一次沟通。</a:t>
            </a:r>
          </a:p>
        </p:txBody>
      </p:sp>
    </p:spTree>
    <p:extLst>
      <p:ext uri="{BB962C8B-B14F-4D97-AF65-F5344CB8AC3E}">
        <p14:creationId xmlns:p14="http://schemas.microsoft.com/office/powerpoint/2010/main" val="2220869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D70583-BC5A-42E5-9897-1CD01AB8F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8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334628-F66D-4F82-AC18-EB2EBD6AE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7E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7E89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3DF8F9-4EDB-46EE-8EA2-69CE8E2AC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3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3B5C"/>
                </a:solidFill>
                <a:latin typeface="Microsoft YaHei"/>
                <a:ea typeface="Microsoft YaHei"/>
                <a:cs typeface="Microsoft YaHei"/>
              </a:rPr>
              <a:t>绿色场景：可信科普先给依据，再给行动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C2614A-71BD-444C-8B6D-240F25381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716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rPr>
              <a:t>示例问题：老年人平时怎样预防跌倒？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5A5ECD-5745-457D-80CA-2C2FA57B9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E3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EEAD44-D3D7-4EA9-AFE6-FFF293C1B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rPr>
              <a:t>银龄健康通 2.0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180292-BB0D-449D-A57B-14D86D6C5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985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rPr>
              <a:t>4 / 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E3CFD4-68F7-446F-95A0-276F9F659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47900"/>
            <a:ext cx="481012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B4D348-6724-4699-A7E8-6ABCFFE7D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09850"/>
            <a:ext cx="4048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436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3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3B5C"/>
                </a:solidFill>
                <a:latin typeface="Microsoft YaHei"/>
                <a:ea typeface="Microsoft YaHei"/>
                <a:cs typeface="Microsoft YaHei"/>
              </a:rPr>
              <a:t>“老年人平时怎样预防跌倒？”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FBC281-78A2-4EBA-8196-CEAAE2BFA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86100"/>
            <a:ext cx="4048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rPr>
              <a:t>普通健康教育问题进入权威检索与结构化解释。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202654-FA93-4FC8-835E-B6D4E9A58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40030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8563"/>
          </a:solidFill>
          <a:ln xmlns:a="http://schemas.openxmlformats.org/drawingml/2006/main" w="0">
            <a:solidFill>
              <a:srgbClr val="2D856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4D3170-EE9C-46F8-8E73-C6E030081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581275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481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6AF3E1-7E39-47B1-9CD4-AEDD4CAA8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765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619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8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D8563"/>
                </a:solidFill>
                <a:latin typeface="Microsoft YaHei"/>
                <a:ea typeface="Microsoft YaHei"/>
                <a:cs typeface="Microsoft YaHei"/>
              </a:rPr>
              <a:t>健康科普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E9A9C8-38F4-4506-9525-D88E5D10A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52750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618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rPr>
              <a:t>来源卡显示国家卫生健康委员会公开资料链接。</a:t>
            </a:r>
          </a:p>
          <a:p xmlns:a="http://schemas.openxmlformats.org/drawingml/2006/main">
            <a:pPr algn="l">
              <a:defRPr sz="1425" b="0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rPr>
              <a:t>回答使用短句，并给出防滑、照明、辅助器具等行动提示。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6C608A-1195-4BC4-8582-4D987A4DF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E3E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95D8EB-DA77-4905-895B-3E8305AE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3390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7E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7E89"/>
                </a:solidFill>
                <a:latin typeface="Microsoft YaHei"/>
                <a:ea typeface="Microsoft YaHei"/>
                <a:cs typeface="Microsoft YaHei"/>
              </a:rPr>
              <a:t>现场操作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8577D4-C329-4870-B8E7-897311802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5339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34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8344D"/>
                </a:solidFill>
                <a:latin typeface="Microsoft YaHei"/>
                <a:ea typeface="Microsoft YaHei"/>
                <a:cs typeface="Microsoft YaHei"/>
              </a:rPr>
              <a:t>输入示例问题  ·  查看来源  ·  点击朗读</a:t>
            </a:r>
          </a:p>
        </p:txBody>
      </p:sp>
    </p:spTree>
    <p:extLst>
      <p:ext uri="{BB962C8B-B14F-4D97-AF65-F5344CB8AC3E}">
        <p14:creationId xmlns:p14="http://schemas.microsoft.com/office/powerpoint/2010/main" val="21231981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26B38E-FD70-40C9-B3B2-14EF458F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8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EC0571-7A3B-469F-B2F8-BC74BCBBA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7E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7E89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604A52-B1B1-4C26-A2FB-C4F377D2C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3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3B5C"/>
                </a:solidFill>
                <a:latin typeface="Microsoft YaHei"/>
                <a:ea typeface="Microsoft YaHei"/>
                <a:cs typeface="Microsoft YaHei"/>
              </a:rPr>
              <a:t>黄色场景：涉及用药调整，只做就医准备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E7E7C6-8612-444C-9D4A-774045FAA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716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rPr>
              <a:t>示例问题：降压药能不能停掉一半？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1B23CE-376D-4E28-A317-7E8438F60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E3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FD3C97-94A9-44C5-A57C-F5C1CC0D2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rPr>
              <a:t>银龄健康通 2.0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487198-5AA6-4799-BD16-AB91202AF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985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rPr>
              <a:t>5 / 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0A3D46-03C0-4535-BD62-949992B87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47900"/>
            <a:ext cx="1143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119"/>
          </a:solidFill>
          <a:ln xmlns:a="http://schemas.openxmlformats.org/drawingml/2006/main" w="0">
            <a:solidFill>
              <a:srgbClr val="C9911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814EEF-7CAD-428A-936C-68AB467CF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24100"/>
            <a:ext cx="628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571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3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3B5C"/>
                </a:solidFill>
                <a:latin typeface="Microsoft YaHei"/>
                <a:ea typeface="Microsoft YaHei"/>
                <a:cs typeface="Microsoft YaHei"/>
              </a:rPr>
              <a:t>系统识别自然口语中的停药意图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EF24C8-AB09-4B50-9762-A068DC21C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95600"/>
            <a:ext cx="6000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rPr>
              <a:t>模型不能给出停药、换药、加量或减量的决定。</a:t>
            </a:r>
          </a:p>
          <a:p xmlns:a="http://schemas.openxmlformats.org/drawingml/2006/main">
            <a:pPr algn="l">
              <a:defRPr sz="1650" b="0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rPr>
              <a:t>即使模型返回危险指令，后处理仍会覆盖。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5F5DEA-179C-4C95-A049-C00F72374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624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991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99119"/>
                </a:solidFill>
                <a:latin typeface="Microsoft YaHei"/>
                <a:ea typeface="Microsoft YaHei"/>
                <a:cs typeface="Microsoft YaHei"/>
              </a:rPr>
              <a:t>允许继续提供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34D11E-5480-48F1-9C30-53579D24C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9624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34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8344D"/>
                </a:solidFill>
                <a:latin typeface="Microsoft YaHei"/>
                <a:ea typeface="Microsoft YaHei"/>
                <a:cs typeface="Microsoft YaHei"/>
              </a:rPr>
              <a:t>药盒与用药记录  ·  给医生的问题  ·  家属陪同提醒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7A9148-7328-477F-9E1C-5F9F10B3A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33625"/>
            <a:ext cx="266700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7E7"/>
          </a:solidFill>
          <a:ln xmlns:a="http://schemas.openxmlformats.org/drawingml/2006/main" w="9525">
            <a:solidFill>
              <a:srgbClr val="F1D18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8F285A-E3A9-4BFC-ADAA-69591F38C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309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C991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C99119"/>
                </a:solidFill>
                <a:latin typeface="Microsoft YaHei"/>
                <a:ea typeface="Microsoft YaHei"/>
                <a:cs typeface="Microsoft YaHei"/>
              </a:rPr>
              <a:t>尽快咨询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66510E-78A6-45BA-8DD3-A4D98E091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33725"/>
            <a:ext cx="2019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681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834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8344D"/>
                </a:solidFill>
                <a:latin typeface="Microsoft YaHei"/>
                <a:ea typeface="Microsoft YaHei"/>
                <a:cs typeface="Microsoft YaHei"/>
              </a:rPr>
              <a:t>治疗决定交给</a:t>
            </a:r>
          </a:p>
          <a:p xmlns:a="http://schemas.openxmlformats.org/drawingml/2006/main">
            <a:pPr algn="ctr">
              <a:defRPr sz="1725" b="1">
                <a:solidFill>
                  <a:srgbClr val="1834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8344D"/>
                </a:solidFill>
                <a:latin typeface="Microsoft YaHei"/>
                <a:ea typeface="Microsoft YaHei"/>
                <a:cs typeface="Microsoft YaHei"/>
              </a:rPr>
              <a:t>医生或药师</a:t>
            </a:r>
          </a:p>
        </p:txBody>
      </p:sp>
    </p:spTree>
    <p:extLst>
      <p:ext uri="{BB962C8B-B14F-4D97-AF65-F5344CB8AC3E}">
        <p14:creationId xmlns:p14="http://schemas.microsoft.com/office/powerpoint/2010/main" val="1428712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E1D51C-0549-4435-9FF3-164498827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8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1BC638-81BA-498F-BF30-A14E7B1FB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7E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7E89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F82E89-0FC4-4178-ADEF-F5B647813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3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3B5C"/>
                </a:solidFill>
                <a:latin typeface="Microsoft YaHei"/>
                <a:ea typeface="Microsoft YaHei"/>
                <a:cs typeface="Microsoft YaHei"/>
              </a:rPr>
              <a:t>红色场景：紧急信号优先，本地规则直接处理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3FDDBA-6222-4CBD-A100-5DCDBEADA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716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rPr>
              <a:t>示例问题：老人突然胸痛而且呼吸困难怎么办？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C63E65-F519-47A0-BA84-8C6133254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E3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3A87A8-23B7-48D5-902D-696F7F5D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rPr>
              <a:t>银龄健康通 2.0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40DD12-46FE-4F40-9ACA-61204F564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985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rPr>
              <a:t>6 / 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17A344-A8BB-4F8A-A96F-01736339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1143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3E3E"/>
          </a:solidFill>
          <a:ln xmlns:a="http://schemas.openxmlformats.org/drawingml/2006/main" w="0">
            <a:solidFill>
              <a:srgbClr val="BB3E3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AA016B-2412-4457-8F0C-3FE798BD9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62200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3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3B5C"/>
                </a:solidFill>
                <a:latin typeface="Microsoft YaHei"/>
                <a:ea typeface="Microsoft YaHei"/>
                <a:cs typeface="Microsoft YaHei"/>
              </a:rPr>
              <a:t>胸痛、呼吸困难、意识不清、说话不清、肢体无力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C8E661-6A30-49DF-8992-1C14AB932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71800"/>
            <a:ext cx="666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rPr>
              <a:t>命中紧急规则后，页面直接展示立即求助和线下急诊建议。</a:t>
            </a:r>
          </a:p>
          <a:p xmlns:a="http://schemas.openxmlformats.org/drawingml/2006/main">
            <a:pPr algn="l">
              <a:defRPr sz="1650" b="0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rPr>
              <a:t>这一场景跳过大模型，避免生成居家处理方案。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8072A6-D8EB-4119-A17A-37E3C89C0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19350"/>
            <a:ext cx="24765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BB3E3E"/>
          </a:solidFill>
          <a:ln xmlns:a="http://schemas.openxmlformats.org/drawingml/2006/main" w="0">
            <a:solidFill>
              <a:srgbClr val="BB3E3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F2C363-1E22-4377-912D-C47FC8145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90825"/>
            <a:ext cx="2019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344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立即求助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3331D3-BCB2-4864-9796-E6E7F822C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295650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不等待在线回答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2EBABD-971A-4554-A794-F8472F6A6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719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B3E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B3E3E"/>
                </a:solidFill>
                <a:latin typeface="Microsoft YaHei"/>
                <a:ea typeface="Microsoft YaHei"/>
                <a:cs typeface="Microsoft YaHei"/>
              </a:rPr>
              <a:t>系统不替代急救服务</a:t>
            </a:r>
          </a:p>
        </p:txBody>
      </p:sp>
    </p:spTree>
    <p:extLst>
      <p:ext uri="{BB962C8B-B14F-4D97-AF65-F5344CB8AC3E}">
        <p14:creationId xmlns:p14="http://schemas.microsoft.com/office/powerpoint/2010/main" val="6439105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7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942C32-D4D6-4D9B-A17A-0F2089B3E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8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BE92F0-9BA5-44A8-A25E-31455E4E4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7E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7E89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D36EBC-C5DD-4D27-9880-7613AC439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3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3B5C"/>
                </a:solidFill>
                <a:latin typeface="Microsoft YaHei"/>
                <a:ea typeface="Microsoft YaHei"/>
                <a:cs typeface="Microsoft YaHei"/>
              </a:rPr>
              <a:t>问诊准备包：把临时回忆变成一张可用清单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3453EF-CEED-4DF1-9EAB-F63D1DC5F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716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rPr>
              <a:t>可选填写四项信息，页面刷新后即消失，不保存长期健康档案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F2F748-00FC-487D-B385-12D4EAD75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E3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934D2D-E5F8-408B-871E-7F921D1E2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rPr>
              <a:t>银龄健康通 2.0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AFE685-22C6-4593-BE69-E162BE3C8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985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rPr>
              <a:t>7 / 10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17d44201374012"/>
          <a:srcRect xmlns:a="http://schemas.openxmlformats.org/drawingml/2006/main" l="11557" t="0" r="115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2095500"/>
            <a:ext cx="4762500" cy="3486150"/>
          </a:xfrm>
          <a:prstGeom xmlns:a="http://schemas.openxmlformats.org/drawingml/2006/main" prst="roundRect">
            <a:avLst>
              <a:gd name="adj" fmla="val 3279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6E6F4D-6319-4FB3-A260-670C69D7F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098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7E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7E89"/>
                </a:solidFill>
                <a:latin typeface="Microsoft YaHei"/>
                <a:ea typeface="Microsoft YaHei"/>
                <a:cs typeface="Microsoft YaHei"/>
              </a:rPr>
              <a:t>输入四项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5C0602-6AEE-44FC-95FB-E2D2B52F3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09850"/>
            <a:ext cx="2686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3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3B5C"/>
                </a:solidFill>
                <a:latin typeface="Microsoft YaHei"/>
                <a:ea typeface="Microsoft YaHei"/>
                <a:cs typeface="Microsoft YaHei"/>
              </a:rPr>
              <a:t>开始时间</a:t>
            </a:r>
          </a:p>
          <a:p xmlns:a="http://schemas.openxmlformats.org/drawingml/2006/main">
            <a:pPr algn="l">
              <a:defRPr sz="1800" b="1">
                <a:solidFill>
                  <a:srgbClr val="113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3B5C"/>
                </a:solidFill>
                <a:latin typeface="Microsoft YaHei"/>
                <a:ea typeface="Microsoft YaHei"/>
                <a:cs typeface="Microsoft YaHei"/>
              </a:rPr>
              <a:t>症状变化</a:t>
            </a:r>
          </a:p>
          <a:p xmlns:a="http://schemas.openxmlformats.org/drawingml/2006/main">
            <a:pPr algn="l">
              <a:defRPr sz="1800" b="1">
                <a:solidFill>
                  <a:srgbClr val="113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3B5C"/>
                </a:solidFill>
                <a:latin typeface="Microsoft YaHei"/>
                <a:ea typeface="Microsoft YaHei"/>
                <a:cs typeface="Microsoft YaHei"/>
              </a:rPr>
              <a:t>正在使用的药物或药盒</a:t>
            </a:r>
          </a:p>
          <a:p xmlns:a="http://schemas.openxmlformats.org/drawingml/2006/main">
            <a:pPr algn="l">
              <a:defRPr sz="1800" b="1">
                <a:solidFill>
                  <a:srgbClr val="113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3B5C"/>
                </a:solidFill>
                <a:latin typeface="Microsoft YaHei"/>
                <a:ea typeface="Microsoft YaHei"/>
                <a:cs typeface="Microsoft YaHei"/>
              </a:rPr>
              <a:t>基础疾病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649539-20B4-4A56-9012-CB3ACAB8B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76525"/>
            <a:ext cx="2209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382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rPr>
              <a:t>生成给医生的摘要、材料清单、优先问题和家庭任务。</a:t>
            </a:r>
          </a:p>
          <a:p xmlns:a="http://schemas.openxmlformats.org/drawingml/2006/main">
            <a:pPr algn="l">
              <a:defRPr sz="1425" b="0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rPr>
              <a:t>姓名等额外字段会被忽略。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F9E076-6F6D-4E99-AB63-C8EDF5A10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305300"/>
            <a:ext cx="514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49B3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646603-F8F9-4EF6-BD42-995D03AEC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5910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34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8344D"/>
                </a:solidFill>
                <a:latin typeface="Microsoft YaHei"/>
                <a:ea typeface="Microsoft YaHei"/>
                <a:cs typeface="Microsoft YaHei"/>
              </a:rPr>
              <a:t>家属拿到的是行动提醒，而不是健康结论。</a:t>
            </a:r>
          </a:p>
        </p:txBody>
      </p:sp>
    </p:spTree>
    <p:extLst>
      <p:ext uri="{BB962C8B-B14F-4D97-AF65-F5344CB8AC3E}">
        <p14:creationId xmlns:p14="http://schemas.microsoft.com/office/powerpoint/2010/main" val="5475190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F03C36-CB90-4DD3-BE17-2DD79130F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8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D4D64E-8A49-4E77-A86E-C61C844C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7E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7E89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90871A-21C1-486A-96EE-1FCA0FE6D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3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3B5C"/>
                </a:solidFill>
                <a:latin typeface="Microsoft YaHei"/>
                <a:ea typeface="Microsoft YaHei"/>
                <a:cs typeface="Microsoft YaHei"/>
              </a:rPr>
              <a:t>技术架构：模型只负责解释，规则和来源负责约束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3FC883-6826-4FF1-AF1F-C5C969D0F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716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rPr>
              <a:t>六个独立模块支撑可解释、可降级、可评测的业务闭环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732419-33B8-4D01-96AE-A12C1B29D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E3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B0E40B-302B-4ACF-AD39-6F38847E8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rPr>
              <a:t>银龄健康通 2.0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5E2D5D-B1FE-4AC3-B139-E3AF75559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985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rPr>
              <a:t>8 / 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51B1D2-1B76-4A99-9874-2C8CD3CA7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31432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7E3E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A03A9F-612F-442D-BCC3-2606C9658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3143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3E3E"/>
          </a:solidFill>
          <a:ln xmlns:a="http://schemas.openxmlformats.org/drawingml/2006/main" w="0">
            <a:solidFill>
              <a:srgbClr val="BB3E3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3AA438-7E1B-424E-B20A-254CB1A7D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57475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3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3B5C"/>
                </a:solidFill>
                <a:latin typeface="Microsoft YaHei"/>
                <a:ea typeface="Microsoft YaHei"/>
                <a:cs typeface="Microsoft YaHei"/>
              </a:rPr>
              <a:t>safety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227C82-8B85-4685-ADF9-4E424C0A9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67050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rPr>
              <a:t>红黄绿风险路由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EBBC24-A281-4231-8536-E87FC8916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43150"/>
            <a:ext cx="31432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7E3E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EC0EC-C7A1-434E-9090-92A86EE5C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43150"/>
            <a:ext cx="3143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89"/>
          </a:solidFill>
          <a:ln xmlns:a="http://schemas.openxmlformats.org/drawingml/2006/main" w="0">
            <a:solidFill>
              <a:srgbClr val="177E89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2F3EB6-16AC-4176-A59C-38350B3D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57475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3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3B5C"/>
                </a:solidFill>
                <a:latin typeface="Microsoft YaHei"/>
                <a:ea typeface="Microsoft YaHei"/>
                <a:cs typeface="Microsoft YaHei"/>
              </a:rPr>
              <a:t>knowledge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ACA874-6B97-495E-8339-E6BD73915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67050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rPr>
              <a:t>卫健委白名单检索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B1557C-395B-4439-AD70-90BB278AC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43150"/>
            <a:ext cx="31432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7E3E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D6E3DC-6FD9-4B12-8753-28181B022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43150"/>
            <a:ext cx="3143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9B33"/>
          </a:solidFill>
          <a:ln xmlns:a="http://schemas.openxmlformats.org/drawingml/2006/main" w="0">
            <a:solidFill>
              <a:srgbClr val="E49B3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AE6189-EAAF-4473-85B7-457D445BB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57475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3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3B5C"/>
                </a:solidFill>
                <a:latin typeface="Microsoft YaHei"/>
                <a:ea typeface="Microsoft YaHei"/>
                <a:cs typeface="Microsoft YaHei"/>
              </a:rPr>
              <a:t>model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6D14A0-5A42-4457-B73F-47F713E2D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67050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rPr>
              <a:t>千问结构化生成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5E2D01-7656-488E-B1F0-3A4E8DB2A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31432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7E3E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373946-9D20-489A-9D44-9C2B5F8E2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3143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B5C"/>
          </a:solidFill>
          <a:ln xmlns:a="http://schemas.openxmlformats.org/drawingml/2006/main" w="0">
            <a:solidFill>
              <a:srgbClr val="113B5C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96A207-958C-448E-BFFE-921826ECC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4825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3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3B5C"/>
                </a:solidFill>
                <a:latin typeface="Microsoft YaHei"/>
                <a:ea typeface="Microsoft YaHei"/>
                <a:cs typeface="Microsoft YaHei"/>
              </a:rPr>
              <a:t>response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53D0E5-8AC7-4AC4-AA00-13F21B12A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24400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rPr>
              <a:t>字段校验与安全覆盖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BD75B9-8531-4AC8-983C-542BD99A7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000500"/>
            <a:ext cx="31432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7E3E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C07DE1-5CD8-4F97-8F68-AFD246595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000500"/>
            <a:ext cx="3143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563"/>
          </a:solidFill>
          <a:ln xmlns:a="http://schemas.openxmlformats.org/drawingml/2006/main" w="0">
            <a:solidFill>
              <a:srgbClr val="2D8563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8BD794-8843-4E32-BFD4-B672CA668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314825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3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3B5C"/>
                </a:solidFill>
                <a:latin typeface="Microsoft YaHei"/>
                <a:ea typeface="Microsoft YaHei"/>
                <a:cs typeface="Microsoft YaHei"/>
              </a:rPr>
              <a:t>visit pack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8D22DA-604E-4250-9E93-97F477E81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724400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rPr>
              <a:t>问诊准备包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1F101B-B932-4227-A6A5-155D65E22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000500"/>
            <a:ext cx="31432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7E3EA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D6554B-1D80-49C9-9870-B70D0521B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000500"/>
            <a:ext cx="3143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085"/>
          </a:solidFill>
          <a:ln xmlns:a="http://schemas.openxmlformats.org/drawingml/2006/main" w="0">
            <a:solidFill>
              <a:srgbClr val="587085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ACE786-2BAD-45EF-8DAC-5449F78EA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14825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3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3B5C"/>
                </a:solidFill>
                <a:latin typeface="Microsoft YaHei"/>
                <a:ea typeface="Microsoft YaHei"/>
                <a:cs typeface="Microsoft YaHei"/>
              </a:rPr>
              <a:t>evaluation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0A35DF-8D6E-41BD-B9E4-E681A68F1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724400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rPr>
              <a:t>固定用例与指标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A07323B-08BB-4AF8-95A9-880307065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1500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7E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7E89"/>
                </a:solidFill>
                <a:latin typeface="Microsoft YaHei"/>
                <a:ea typeface="Microsoft YaHei"/>
                <a:cs typeface="Microsoft YaHei"/>
              </a:rPr>
              <a:t>实时模型异常时，系统回退到本地安全内容，答辩不依赖现场网络。</a:t>
            </a:r>
          </a:p>
        </p:txBody>
      </p:sp>
    </p:spTree>
    <p:extLst>
      <p:ext uri="{BB962C8B-B14F-4D97-AF65-F5344CB8AC3E}">
        <p14:creationId xmlns:p14="http://schemas.microsoft.com/office/powerpoint/2010/main" val="6841099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351EB9-381E-4898-B9AF-EECFC175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8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D8245F-94B5-4078-866D-014C04C82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7E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7E89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4C359E-7603-40B5-ADA1-E6A47C9D9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3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3B5C"/>
                </a:solidFill>
                <a:latin typeface="Microsoft YaHei"/>
                <a:ea typeface="Microsoft YaHei"/>
                <a:cs typeface="Microsoft YaHei"/>
              </a:rPr>
              <a:t>可复现证据：45 项自动化测试，30 条固定用例全通过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B0AA7E-55FF-4E3A-BAB4-B0F16354A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716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rPr>
              <a:t>指标衡量当前工程与安全表现，不代表临床诊断准确率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EC080D-C85F-430B-837E-473DD165C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E3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59A293-7E6A-4B15-9A9C-56160D800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rPr>
              <a:t>银龄健康通 2.0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742955-24D1-4F3F-9DA2-4E8EB202F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985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rPr>
              <a:t>9 / 10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723900" y="2305050"/>
          <a:ext xmlns:a="http://schemas.openxmlformats.org/drawingml/2006/main" cx="6572250" cy="2762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3cc967060c2476f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1EBBD7-4F6E-43AA-AF97-F78CA054F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00300"/>
            <a:ext cx="2743200" cy="2305050"/>
          </a:xfrm>
          <a:prstGeom xmlns:a="http://schemas.openxmlformats.org/drawingml/2006/main" prst="roundRect">
            <a:avLst>
              <a:gd name="adj" fmla="val 33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33978B-900B-43E0-934B-0C6F838D0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622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95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77E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7E89"/>
                </a:solidFill>
                <a:latin typeface="Microsoft YaHei"/>
                <a:ea typeface="Microsoft YaHei"/>
                <a:cs typeface="Microsoft YaHei"/>
              </a:rPr>
              <a:t>30 / 30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BDA906-9100-4C8D-84AA-B77C836D4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5280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rPr>
              <a:t>虚构固定用例通过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DA7AD0-7C79-4E88-941C-E163AEC7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48100"/>
            <a:ext cx="1924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E3E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428397-2CDD-4D1D-9FB4-B442EABBB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95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1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3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3B5C"/>
                </a:solidFill>
                <a:latin typeface="Microsoft YaHei"/>
                <a:ea typeface="Microsoft YaHei"/>
                <a:cs typeface="Microsoft YaHei"/>
              </a:rPr>
              <a:t>45 项自动化测试</a:t>
            </a:r>
          </a:p>
          <a:p xmlns:a="http://schemas.openxmlformats.org/drawingml/2006/main">
            <a:pPr algn="ctr">
              <a:defRPr sz="1500" b="1">
                <a:solidFill>
                  <a:srgbClr val="113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3B5C"/>
                </a:solidFill>
                <a:latin typeface="Microsoft YaHei"/>
                <a:ea typeface="Microsoft YaHei"/>
                <a:cs typeface="Microsoft YaHei"/>
              </a:rPr>
              <a:t>演示模式可复现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191618-055B-4257-9833-7FB62FB34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410200"/>
            <a:ext cx="876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7085"/>
                </a:solidFill>
                <a:latin typeface="Microsoft YaHei"/>
                <a:ea typeface="Microsoft YaHei"/>
                <a:cs typeface="Microsoft YaHei"/>
              </a:rPr>
              <a:t>评测报告随源代码提交，可在 /evaluation 查看。</a:t>
            </a:r>
          </a:p>
        </p:txBody>
      </p:sp>
    </p:spTree>
    <p:extLst>
      <p:ext uri="{BB962C8B-B14F-4D97-AF65-F5344CB8AC3E}">
        <p14:creationId xmlns:p14="http://schemas.microsoft.com/office/powerpoint/2010/main" val="200942617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13B5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967337-8407-447A-85CA-FB0EB189E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9B33"/>
          </a:solidFill>
          <a:ln xmlns:a="http://schemas.openxmlformats.org/drawingml/2006/main" w="0">
            <a:solidFill>
              <a:srgbClr val="E49B3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6911E7-B247-4B37-8519-53A954B59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DD9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8DD9D6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FD6444-B2B7-40F6-BDAB-496039FFA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715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368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边界清楚，价值才可信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FB9EF5-FF43-4F66-940E-3E3705E0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885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9D9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C9D9E5"/>
                </a:solidFill>
                <a:latin typeface="Microsoft YaHei"/>
                <a:ea typeface="Microsoft YaHei"/>
                <a:cs typeface="Microsoft YaHei"/>
              </a:rPr>
              <a:t>项目帮助老人更充分地准备下一次沟通，不替老人做医疗决定。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9C0D89-E216-4540-B6D0-DFDB2EBAB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14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B25E"/>
          </a:solidFill>
          <a:ln xmlns:a="http://schemas.openxmlformats.org/drawingml/2006/main" w="0">
            <a:solidFill>
              <a:srgbClr val="E7B25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F05F82-287D-4F9B-9464-60B3728FB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95550"/>
            <a:ext cx="1428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B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7B25E"/>
                </a:solidFill>
                <a:latin typeface="Microsoft YaHei"/>
                <a:ea typeface="Microsoft YaHei"/>
                <a:cs typeface="Microsoft YaHei"/>
              </a:rPr>
              <a:t>当前边界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F4BB92-211D-4AE1-8F0C-5FC420A30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不诊断、不改药、不保存长期健康档案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DD0D59-E576-425C-95DC-CB2A2A7E4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781300"/>
            <a:ext cx="483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9D9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9D9E5"/>
                </a:solidFill>
                <a:latin typeface="Microsoft YaHei"/>
                <a:ea typeface="Microsoft YaHei"/>
                <a:cs typeface="Microsoft YaHei"/>
              </a:rPr>
              <a:t>不替代医生、药师或急救服务。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0A702A-AD79-4406-9B5E-C73E4200C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95700"/>
            <a:ext cx="114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D9D6"/>
          </a:solidFill>
          <a:ln xmlns:a="http://schemas.openxmlformats.org/drawingml/2006/main" w="0">
            <a:solidFill>
              <a:srgbClr val="8DD9D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4C6AEB-4164-47DF-BDB6-2E7A8B372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1428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DD9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DD9D6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60F6CF-3F86-48FE-BB41-5EDF56C50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195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专业人员审核扩充知识主题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9507AE-66BC-4450-8DAB-7F0B274CF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19550"/>
            <a:ext cx="483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9D9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9D9E5"/>
                </a:solidFill>
                <a:latin typeface="Microsoft YaHei"/>
                <a:ea typeface="Microsoft YaHei"/>
                <a:cs typeface="Microsoft YaHei"/>
              </a:rPr>
              <a:t>补充无障碍与社区老年人可用性测试。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97AD3D-40D3-4175-B50C-C8FD9204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0"/>
            <a:ext cx="1000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748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657786-1059-4EC2-A4EF-68523204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银龄健康通 2.0  ·  可信健康科普与就医导航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A2D42C-CEE9-408B-A723-3CF356EAB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7340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8DD9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8DD9D6"/>
                </a:solidFill>
                <a:latin typeface="Microsoft YaHei"/>
                <a:ea typeface="Microsoft YaHei"/>
                <a:cs typeface="Microsoft YaHei"/>
              </a:rPr>
              <a:t>谢谢</a:t>
            </a:r>
          </a:p>
        </p:txBody>
      </p:sp>
    </p:spTree>
    <p:extLst>
      <p:ext uri="{BB962C8B-B14F-4D97-AF65-F5344CB8AC3E}">
        <p14:creationId xmlns:p14="http://schemas.microsoft.com/office/powerpoint/2010/main" val="5408814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2026-09-06T03:21:25.7600000Z</dcterms:created>
  <dcterms:modified xsi:type="dcterms:W3CDTF">2026-09-06T03:21:25.7600000Z</dcterms:modified>
</coreProperties>
</file>